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3" d="100"/>
          <a:sy n="63" d="100"/>
        </p:scale>
        <p:origin x="78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2217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879630" cy="12573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548640" y="3703321"/>
            <a:ext cx="4924044" cy="1040696"/>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500" b="1" u="sng" dirty="0">
                <a:solidFill>
                  <a:schemeClr val="bg1"/>
                </a:solidFill>
              </a:rPr>
              <a:t>Team Name – Tech Titans</a:t>
            </a:r>
            <a:endParaRPr lang="en-US" sz="1500" b="1" u="sng" dirty="0"/>
          </a:p>
          <a:p>
            <a:pPr marL="279400" indent="-279400">
              <a:spcAft>
                <a:spcPts val="1400"/>
              </a:spcAft>
              <a:buClr>
                <a:schemeClr val="accent3"/>
              </a:buClr>
              <a:buSzPct val="100000"/>
              <a:buChar char="•"/>
            </a:pPr>
            <a:r>
              <a:rPr lang="en-US" sz="1500" u="sng" dirty="0">
                <a:solidFill>
                  <a:schemeClr val="bg1"/>
                </a:solidFill>
              </a:rPr>
              <a:t>Team Members :</a:t>
            </a:r>
            <a:br>
              <a:rPr lang="en-US" sz="1500" dirty="0">
                <a:solidFill>
                  <a:schemeClr val="bg1"/>
                </a:solidFill>
              </a:rPr>
            </a:br>
            <a:r>
              <a:rPr lang="en-US" sz="1500" dirty="0" err="1">
                <a:solidFill>
                  <a:schemeClr val="bg1"/>
                </a:solidFill>
              </a:rPr>
              <a:t>Oviyaa</a:t>
            </a:r>
            <a:r>
              <a:rPr lang="en-US" sz="1500" dirty="0">
                <a:solidFill>
                  <a:schemeClr val="bg1"/>
                </a:solidFill>
              </a:rPr>
              <a:t> S - cb.sc.u4cse26072</a:t>
            </a:r>
            <a:br>
              <a:rPr lang="en-US" sz="1500" dirty="0">
                <a:solidFill>
                  <a:schemeClr val="bg1"/>
                </a:solidFill>
              </a:rPr>
            </a:br>
            <a:r>
              <a:rPr lang="en-US" sz="1500" dirty="0">
                <a:solidFill>
                  <a:schemeClr val="bg1"/>
                </a:solidFill>
              </a:rPr>
              <a:t>Shivamihit Govindaraju - cb.en.u4ece26148</a:t>
            </a:r>
            <a:br>
              <a:rPr lang="en-US" sz="1500" dirty="0">
                <a:solidFill>
                  <a:schemeClr val="bg1"/>
                </a:solidFill>
              </a:rPr>
            </a:br>
            <a:r>
              <a:rPr lang="en-US" sz="1500" dirty="0">
                <a:solidFill>
                  <a:schemeClr val="bg1"/>
                </a:solidFill>
              </a:rPr>
              <a:t>Kapil Kumaran K S – cb.en.u4mee26117</a:t>
            </a:r>
            <a:br>
              <a:rPr lang="en-US" sz="1500" dirty="0">
                <a:solidFill>
                  <a:schemeClr val="bg1"/>
                </a:solidFill>
              </a:rPr>
            </a:br>
            <a:r>
              <a:rPr lang="en-US" sz="1500" dirty="0" err="1">
                <a:solidFill>
                  <a:schemeClr val="bg1"/>
                </a:solidFill>
              </a:rPr>
              <a:t>Maadesh</a:t>
            </a:r>
            <a:r>
              <a:rPr lang="en-US" sz="1500" dirty="0">
                <a:solidFill>
                  <a:schemeClr val="bg1"/>
                </a:solidFill>
              </a:rPr>
              <a:t> Kumaar C – cb.sc.u4cse26633</a:t>
            </a:r>
            <a:endParaRPr lang="en-US" sz="1500" dirty="0"/>
          </a:p>
          <a:p>
            <a:pPr marL="279400" indent="-279400">
              <a:spcAft>
                <a:spcPts val="1400"/>
              </a:spcAft>
              <a:buClr>
                <a:schemeClr val="accent3"/>
              </a:buClr>
              <a:buSzPct val="100000"/>
              <a:buChar char="•"/>
            </a:pPr>
            <a:r>
              <a:rPr lang="en-US" sz="1500" u="sng" dirty="0">
                <a:solidFill>
                  <a:schemeClr val="bg1"/>
                </a:solidFill>
              </a:rPr>
              <a:t>Selected Domain </a:t>
            </a:r>
            <a:r>
              <a:rPr lang="en-US" sz="1500" dirty="0">
                <a:solidFill>
                  <a:schemeClr val="bg1"/>
                </a:solidFill>
              </a:rPr>
              <a:t>– #1</a:t>
            </a:r>
            <a:endParaRPr lang="en-US" sz="1500" dirty="0"/>
          </a:p>
          <a:p>
            <a:pPr marL="279400" indent="-279400">
              <a:spcAft>
                <a:spcPts val="1400"/>
              </a:spcAft>
              <a:buClr>
                <a:schemeClr val="accent3"/>
              </a:buClr>
              <a:buSzPct val="100000"/>
              <a:buChar char="•"/>
            </a:pPr>
            <a:r>
              <a:rPr lang="en-US" sz="1500" u="sng" dirty="0">
                <a:solidFill>
                  <a:schemeClr val="bg1"/>
                </a:solidFill>
              </a:rPr>
              <a:t>Problem Statement </a:t>
            </a:r>
            <a:r>
              <a:rPr lang="en-US" sz="1500" dirty="0">
                <a:solidFill>
                  <a:schemeClr val="bg1"/>
                </a:solidFill>
              </a:rPr>
              <a:t>– AI-generated deepfakes can misuse a person’s identity without their knowledge or consent. There is a need for secure system to verify identity ,detect manipulated content ,and protect ownership and consent.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57154"/>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  </a:t>
            </a:r>
            <a:br>
              <a:rPr lang="en-US" sz="1800" dirty="0">
                <a:solidFill>
                  <a:schemeClr val="tx1"/>
                </a:solidFill>
              </a:rPr>
            </a:br>
            <a:r>
              <a:rPr lang="en-US" sz="1800" dirty="0">
                <a:solidFill>
                  <a:schemeClr val="tx1"/>
                </a:solidFill>
              </a:rPr>
              <a:t>Now present days many AI generated fake images and fake news are circulated without the concern of the owner. </a:t>
            </a:r>
            <a:r>
              <a:rPr lang="en-US" dirty="0"/>
              <a:t>So we are exactly going to detect the whether the image is AI or fake and before uploading we will get the concern from the owner .</a:t>
            </a:r>
            <a:endParaRPr lang="en-US" sz="1800" dirty="0"/>
          </a:p>
          <a:p>
            <a:pPr marL="279400" indent="-279400">
              <a:spcAft>
                <a:spcPts val="1000"/>
              </a:spcAft>
              <a:buClr>
                <a:schemeClr val="accent1"/>
              </a:buClr>
              <a:buSzPct val="100000"/>
              <a:buChar char="•"/>
            </a:pPr>
            <a:r>
              <a:rPr lang="en-US" sz="1800" dirty="0">
                <a:solidFill>
                  <a:schemeClr val="tx1"/>
                </a:solidFill>
              </a:rPr>
              <a:t>Why is it important right now? </a:t>
            </a:r>
            <a:br>
              <a:rPr lang="en-US" sz="1800" dirty="0">
                <a:solidFill>
                  <a:schemeClr val="tx1"/>
                </a:solidFill>
              </a:rPr>
            </a:br>
            <a:r>
              <a:rPr lang="en-US" sz="1800" dirty="0">
                <a:solidFill>
                  <a:schemeClr val="tx1"/>
                </a:solidFill>
              </a:rPr>
              <a:t>In the evolving AI era this is the major issue faced by many normal people as well as the influenced people . </a:t>
            </a:r>
            <a:r>
              <a:rPr lang="en-US" dirty="0"/>
              <a:t>This is important because it can prevent the financial loss and maintain an individual’s privacy.</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603504" y="304495"/>
            <a:ext cx="2606040" cy="822960"/>
          </a:xfrm>
          <a:prstGeom prst="roundRect">
            <a:avLst>
              <a:gd name="adj" fmla="val 13333"/>
            </a:avLst>
          </a:prstGeom>
          <a:solidFill>
            <a:schemeClr val="bg1"/>
          </a:solidFill>
          <a:ln w="9525">
            <a:solidFill>
              <a:schemeClr val="accent6"/>
            </a:solidFill>
            <a:prstDash val="solid"/>
          </a:ln>
        </p:spPr>
        <p:txBody>
          <a:bodyPr/>
          <a:lstStyle/>
          <a:p>
            <a:r>
              <a:rPr lang="en-US"/>
              <a:t>             </a:t>
            </a:r>
            <a:r>
              <a:rPr lang="en-US" sz="1000"/>
              <a:t>T E A M </a:t>
            </a:r>
            <a:endParaRPr lang="en-US" dirty="0"/>
          </a:p>
          <a:p>
            <a:r>
              <a:rPr lang="en-US" dirty="0"/>
              <a:t>              Tech titans</a:t>
            </a:r>
            <a:endParaRPr lang="en-IN" dirty="0"/>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Primary users / target group</a:t>
            </a:r>
            <a:r>
              <a:rPr lang="en-US" dirty="0"/>
              <a:t> : </a:t>
            </a:r>
            <a:r>
              <a:rPr lang="en-US" dirty="0" err="1"/>
              <a:t>influencers,actors,politicians</a:t>
            </a:r>
            <a:r>
              <a:rPr lang="en-US" dirty="0"/>
              <a:t>/ all people who use social media and stuffs</a:t>
            </a:r>
            <a:endParaRPr lang="en-US" sz="1800" dirty="0"/>
          </a:p>
          <a:p>
            <a:pPr marL="279400" indent="-279400">
              <a:spcAft>
                <a:spcPts val="1000"/>
              </a:spcAft>
              <a:buClr>
                <a:schemeClr val="accent1"/>
              </a:buClr>
              <a:buSzPct val="100000"/>
              <a:buChar char="•"/>
            </a:pPr>
            <a:r>
              <a:rPr lang="en-US" sz="1800" dirty="0">
                <a:solidFill>
                  <a:schemeClr val="tx1"/>
                </a:solidFill>
              </a:rPr>
              <a:t> Secondary stakeholders: social media platforms</a:t>
            </a:r>
            <a:endParaRPr lang="en-US" sz="1800" dirty="0"/>
          </a:p>
          <a:p>
            <a:pPr marL="279400" indent="-279400">
              <a:spcAft>
                <a:spcPts val="1000"/>
              </a:spcAft>
              <a:buClr>
                <a:schemeClr val="accent1"/>
              </a:buClr>
              <a:buSzPct val="100000"/>
              <a:buChar char="•"/>
            </a:pPr>
            <a:r>
              <a:rPr lang="en-US" sz="1800" dirty="0">
                <a:solidFill>
                  <a:schemeClr val="tx1"/>
                </a:solidFill>
              </a:rPr>
              <a:t>Who benefits if the problem is solved? Everyone who use social media are </a:t>
            </a:r>
            <a:r>
              <a:rPr lang="en-US" sz="1800" dirty="0" err="1">
                <a:solidFill>
                  <a:schemeClr val="tx1"/>
                </a:solidFill>
              </a:rPr>
              <a:t>benifited</a:t>
            </a:r>
            <a:r>
              <a:rPr lang="en-US" sz="1800" dirty="0">
                <a:solidFill>
                  <a:schemeClr val="tx1"/>
                </a:solidFill>
              </a:rPr>
              <a:t> as it protects them from ai generated deepfake</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83920" y="198059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scenario and background : there are many people who got affected by ai deepfake and few lead to financial loss, and extreme cases it lead to self destruction(suicide)</a:t>
            </a:r>
            <a:endParaRPr lang="en-US" sz="1800" dirty="0"/>
          </a:p>
          <a:p>
            <a:pPr marL="279400" indent="-279400">
              <a:spcAft>
                <a:spcPts val="1000"/>
              </a:spcAft>
              <a:buClr>
                <a:schemeClr val="accent1"/>
              </a:buClr>
              <a:buSzPct val="100000"/>
              <a:buChar char="•"/>
            </a:pPr>
            <a:r>
              <a:rPr lang="en-US" sz="1800" dirty="0">
                <a:solidFill>
                  <a:schemeClr val="tx1"/>
                </a:solidFill>
              </a:rPr>
              <a:t>Relevant data or facts (if available): </a:t>
            </a:r>
          </a:p>
          <a:p>
            <a:pPr marL="285750" indent="-285750">
              <a:spcAft>
                <a:spcPts val="1000"/>
              </a:spcAft>
              <a:buClr>
                <a:schemeClr val="accent1"/>
              </a:buClr>
              <a:buSzPct val="100000"/>
              <a:buFont typeface="Wingdings" panose="05000000000000000000" pitchFamily="2" charset="2"/>
              <a:buChar char="v"/>
            </a:pPr>
            <a:r>
              <a:rPr lang="en-US" dirty="0"/>
              <a:t>Bombay Stock Exchange (BSE) CEO Deepfake Videos: AI-generated deepfake videos impersonating BSE Managing Director and CEO Sundararaman Ramamurthy have repeatedly circulated on social media and messaging apps (such as WhatsApp and Telegram), falsely showing him offering guaranteed stock picks and urging users to join private trading groups. BSE officially flagged and reported these incidents to regulators and police. Source: BBC News and BSE Media Releases.</a:t>
            </a:r>
          </a:p>
          <a:p>
            <a:pPr marL="285750" indent="-285750">
              <a:spcAft>
                <a:spcPts val="1000"/>
              </a:spcAft>
              <a:buClr>
                <a:schemeClr val="accent1"/>
              </a:buClr>
              <a:buSzPct val="100000"/>
              <a:buFont typeface="Wingdings" panose="05000000000000000000" pitchFamily="2" charset="2"/>
              <a:buChar char="v"/>
            </a:pPr>
            <a:r>
              <a:rPr lang="en-US" dirty="0"/>
              <a:t> A 19-year-old college student died by suicide after being targeted by cybercriminals who hacked his phone, used AI tools to create obscene deepfake images and videos of him and his sisters, and blackmailed him for money under threats of public </a:t>
            </a:r>
            <a:r>
              <a:rPr lang="en-US" dirty="0" err="1"/>
              <a:t>release.Source</a:t>
            </a:r>
            <a:r>
              <a:rPr lang="en-US" dirty="0"/>
              <a:t>: Documented in the OECD.AI Policy Observatory Incident Database</a:t>
            </a:r>
            <a:endParaRPr lang="en-US" sz="1800" dirty="0"/>
          </a:p>
          <a:p>
            <a:pPr marL="279400" indent="-279400">
              <a:spcAft>
                <a:spcPts val="1000"/>
              </a:spcAft>
              <a:buClr>
                <a:schemeClr val="accent1"/>
              </a:buClr>
              <a:buSzPct val="100000"/>
              <a:buChar char="•"/>
            </a:pPr>
            <a:r>
              <a:rPr lang="en-US" sz="1800" dirty="0">
                <a:solidFill>
                  <a:schemeClr val="tx1"/>
                </a:solidFill>
              </a:rPr>
              <a:t>Current workflow, step by step : </a:t>
            </a:r>
            <a:r>
              <a:rPr lang="en-US" dirty="0" err="1"/>
              <a:t>Ingest→analyze→cross</a:t>
            </a:r>
            <a:r>
              <a:rPr lang="en-US" dirty="0"/>
              <a:t> </a:t>
            </a:r>
            <a:r>
              <a:rPr lang="en-US" dirty="0" err="1"/>
              <a:t>validate→excalate→audit</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Main difficulties and bottlenecks : difficulty in finding AI deepfake and original one</a:t>
            </a:r>
            <a:endParaRPr lang="en-US" sz="1800" dirty="0"/>
          </a:p>
          <a:p>
            <a:pPr marL="279400" indent="-279400">
              <a:spcAft>
                <a:spcPts val="1000"/>
              </a:spcAft>
              <a:buClr>
                <a:schemeClr val="accent1"/>
              </a:buClr>
              <a:buSzPct val="100000"/>
              <a:buChar char="•"/>
            </a:pPr>
            <a:r>
              <a:rPr lang="en-US" sz="1800" dirty="0">
                <a:solidFill>
                  <a:schemeClr val="tx1"/>
                </a:solidFill>
              </a:rPr>
              <a:t>Root causes behind them : AI deepfake are not verified</a:t>
            </a:r>
            <a:endParaRPr lang="en-US" sz="1800" dirty="0"/>
          </a:p>
          <a:p>
            <a:pPr marL="279400" indent="-279400">
              <a:spcAft>
                <a:spcPts val="1000"/>
              </a:spcAft>
              <a:buClr>
                <a:schemeClr val="accent1"/>
              </a:buClr>
              <a:buSzPct val="100000"/>
              <a:buChar char="•"/>
            </a:pPr>
            <a:r>
              <a:rPr lang="en-US" sz="1800" dirty="0">
                <a:solidFill>
                  <a:schemeClr val="tx1"/>
                </a:solidFill>
              </a:rPr>
              <a:t>Consequences of leaving them unsolved : financial loss, loss of lives ,misinformation and so on…</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777240" y="198059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methods, systems or alternatives : existing methods are </a:t>
            </a:r>
            <a:r>
              <a:rPr lang="en-US" sz="1800" dirty="0" err="1">
                <a:solidFill>
                  <a:schemeClr val="tx1"/>
                </a:solidFill>
              </a:rPr>
              <a:t>innovatrics</a:t>
            </a:r>
            <a:endParaRPr lang="en-US" sz="1800" dirty="0"/>
          </a:p>
          <a:p>
            <a:pPr marL="279400" indent="-279400">
              <a:spcAft>
                <a:spcPts val="1000"/>
              </a:spcAft>
              <a:buClr>
                <a:schemeClr val="accent1"/>
              </a:buClr>
              <a:buSzPct val="100000"/>
              <a:buChar char="•"/>
            </a:pPr>
            <a:r>
              <a:rPr lang="en-US" sz="1800" dirty="0">
                <a:solidFill>
                  <a:schemeClr val="tx1"/>
                </a:solidFill>
              </a:rPr>
              <a:t>Limitations of each : </a:t>
            </a:r>
            <a:r>
              <a:rPr lang="en-US" dirty="0"/>
              <a:t>only video can be checked or image can be checked</a:t>
            </a:r>
            <a:endParaRPr lang="en-US" sz="1800" dirty="0"/>
          </a:p>
          <a:p>
            <a:pPr marL="279400" indent="-279400">
              <a:spcAft>
                <a:spcPts val="1000"/>
              </a:spcAft>
              <a:buClr>
                <a:schemeClr val="accent1"/>
              </a:buClr>
              <a:buSzPct val="100000"/>
              <a:buChar char="•"/>
            </a:pPr>
            <a:r>
              <a:rPr lang="en-US" sz="1800" dirty="0">
                <a:solidFill>
                  <a:schemeClr val="tx1"/>
                </a:solidFill>
              </a:rPr>
              <a:t>The gap they leave open (Key Challenges) : doesn</a:t>
            </a:r>
            <a:r>
              <a:rPr lang="en-US" dirty="0"/>
              <a:t>’t get concern of people </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736092" y="215900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Hardware Requirements : super computer</a:t>
            </a:r>
            <a:endParaRPr lang="en-US" sz="1800" dirty="0"/>
          </a:p>
          <a:p>
            <a:pPr marL="279400" indent="-279400">
              <a:spcAft>
                <a:spcPts val="1000"/>
              </a:spcAft>
              <a:buClr>
                <a:schemeClr val="accent1"/>
              </a:buClr>
              <a:buSzPct val="100000"/>
              <a:buChar char="•"/>
            </a:pPr>
            <a:r>
              <a:rPr lang="en-US" sz="1800" dirty="0">
                <a:solidFill>
                  <a:schemeClr val="tx1"/>
                </a:solidFill>
              </a:rPr>
              <a:t>Software Requirements : -</a:t>
            </a:r>
            <a:endParaRPr lang="en-US" sz="1800" dirty="0"/>
          </a:p>
          <a:p>
            <a:pPr marL="279400" indent="-279400">
              <a:spcAft>
                <a:spcPts val="1000"/>
              </a:spcAft>
              <a:buClr>
                <a:schemeClr val="accent1"/>
              </a:buClr>
              <a:buSzPct val="100000"/>
              <a:buChar char="•"/>
            </a:pPr>
            <a:r>
              <a:rPr lang="en-US" sz="1800" dirty="0">
                <a:solidFill>
                  <a:schemeClr val="tx1"/>
                </a:solidFill>
              </a:rPr>
              <a:t>Other resources (Including Human Resources) : mentor  </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 Tech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your team intends to do : </a:t>
            </a:r>
          </a:p>
          <a:p>
            <a:pPr marL="742950" lvl="1" indent="-285750">
              <a:spcAft>
                <a:spcPts val="1000"/>
              </a:spcAft>
              <a:buClr>
                <a:schemeClr val="accent1"/>
              </a:buClr>
              <a:buSzPct val="100000"/>
              <a:buFont typeface="Wingdings" panose="05000000000000000000" pitchFamily="2" charset="2"/>
              <a:buChar char="Ø"/>
            </a:pPr>
            <a:r>
              <a:rPr lang="en-US" dirty="0"/>
              <a:t>Our intention is to create a software where everyone’s information is stored in blockchain and gets concern person permission to upload their video/photo</a:t>
            </a:r>
          </a:p>
          <a:p>
            <a:pPr marL="279400" indent="-279400">
              <a:spcAft>
                <a:spcPts val="1000"/>
              </a:spcAft>
              <a:buClr>
                <a:schemeClr val="accent1"/>
              </a:buClr>
              <a:buSzPct val="100000"/>
              <a:buChar char="•"/>
            </a:pPr>
            <a:r>
              <a:rPr lang="en-US" sz="1800" dirty="0">
                <a:solidFill>
                  <a:schemeClr val="tx1"/>
                </a:solidFill>
              </a:rPr>
              <a:t>What you want to improve : </a:t>
            </a:r>
          </a:p>
          <a:p>
            <a:pPr marL="742950" lvl="1" indent="-285750">
              <a:spcAft>
                <a:spcPts val="1000"/>
              </a:spcAft>
              <a:buClr>
                <a:schemeClr val="accent1"/>
              </a:buClr>
              <a:buSzPct val="100000"/>
              <a:buFont typeface="Wingdings" panose="05000000000000000000" pitchFamily="2" charset="2"/>
              <a:buChar char="Ø"/>
            </a:pPr>
            <a:r>
              <a:rPr lang="en-US" dirty="0"/>
              <a:t>The blockchain and the software with detecting </a:t>
            </a:r>
            <a:r>
              <a:rPr lang="en-US" dirty="0" err="1"/>
              <a:t>video,audio,image</a:t>
            </a:r>
            <a:endParaRPr lang="en-US" dirty="0"/>
          </a:p>
          <a:p>
            <a:pPr marL="279400" indent="-279400">
              <a:spcAft>
                <a:spcPts val="1000"/>
              </a:spcAft>
              <a:buClr>
                <a:schemeClr val="accent1"/>
              </a:buClr>
              <a:buSzPct val="100000"/>
              <a:buChar char="•"/>
            </a:pPr>
            <a:r>
              <a:rPr lang="en-US" sz="1800" dirty="0">
                <a:solidFill>
                  <a:schemeClr val="tx1"/>
                </a:solidFill>
              </a:rPr>
              <a:t>What successful improvement should you achieve : </a:t>
            </a:r>
          </a:p>
          <a:p>
            <a:pPr marL="742950" lvl="1" indent="-285750">
              <a:spcAft>
                <a:spcPts val="1000"/>
              </a:spcAft>
              <a:buClr>
                <a:schemeClr val="accent1"/>
              </a:buClr>
              <a:buSzPct val="100000"/>
              <a:buFont typeface="Wingdings" panose="05000000000000000000" pitchFamily="2" charset="2"/>
              <a:buChar char="Ø"/>
            </a:pPr>
            <a:r>
              <a:rPr lang="en-US" dirty="0"/>
              <a:t>Storing the information of all people in blockchain</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9420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400" dirty="0"/>
              <a:t>Tech titans</a:t>
            </a:r>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1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2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3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4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TotalTime>
  <Words>792</Words>
  <Application>Microsoft Office PowerPoint</Application>
  <PresentationFormat>Widescreen</PresentationFormat>
  <Paragraphs>98</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Wingdings</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Oviyaa</cp:lastModifiedBy>
  <cp:revision>11</cp:revision>
  <dcterms:created xsi:type="dcterms:W3CDTF">2026-10-07T15:27:40Z</dcterms:created>
  <dcterms:modified xsi:type="dcterms:W3CDTF">2026-10-09T17:04:40Z</dcterms:modified>
</cp:coreProperties>
</file>